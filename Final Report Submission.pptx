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9" r:id="rId4"/>
    <p:sldId id="261" r:id="rId5"/>
    <p:sldId id="258" r:id="rId6"/>
    <p:sldId id="260"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1234564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93353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38665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6B289F-0A5E-4DCC-B30D-FEA97DB2E2B6}" type="datetimeFigureOut">
              <a:rPr lang="en-US" smtClean="0"/>
              <a:t>5/15/2019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873153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6B289F-0A5E-4DCC-B30D-FEA97DB2E2B6}" type="datetimeFigureOut">
              <a:rPr lang="en-US" smtClean="0"/>
              <a:t>5/15/2019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363892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6B289F-0A5E-4DCC-B30D-FEA97DB2E2B6}" type="datetimeFigureOut">
              <a:rPr lang="en-US" smtClean="0"/>
              <a:t>5/15/2019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319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6B289F-0A5E-4DCC-B30D-FEA97DB2E2B6}" type="datetimeFigureOut">
              <a:rPr lang="en-US" smtClean="0"/>
              <a:t>5/15/2019</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850726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26B289F-0A5E-4DCC-B30D-FEA97DB2E2B6}" type="datetimeFigureOut">
              <a:rPr lang="en-US" smtClean="0"/>
              <a:t>5/15/2019</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2282740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26B289F-0A5E-4DCC-B30D-FEA97DB2E2B6}" type="datetimeFigureOut">
              <a:rPr lang="en-US" smtClean="0"/>
              <a:t>5/15/2019</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333583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26B289F-0A5E-4DCC-B30D-FEA97DB2E2B6}" type="datetimeFigureOut">
              <a:rPr lang="en-US" smtClean="0"/>
              <a:t>5/15/2019</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218949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2708279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276256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459786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26B289F-0A5E-4DCC-B30D-FEA97DB2E2B6}" type="datetimeFigureOut">
              <a:rPr lang="en-US" smtClean="0"/>
              <a:t>5/15/2019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3235145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26B289F-0A5E-4DCC-B30D-FEA97DB2E2B6}" type="datetimeFigureOut">
              <a:rPr lang="en-US" smtClean="0"/>
              <a:t>5/15/2019</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2928073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4088860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26B289F-0A5E-4DCC-B30D-FEA97DB2E2B6}" type="datetimeFigureOut">
              <a:rPr lang="en-US" smtClean="0"/>
              <a:t>5/15/2019</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8EDCFB-4F0D-4A62-9A64-C2CE381588B5}" type="slidenum">
              <a:rPr lang="en-US" smtClean="0"/>
              <a:t>‹#›</a:t>
            </a:fld>
            <a:endParaRPr lang="en-US"/>
          </a:p>
        </p:txBody>
      </p:sp>
    </p:spTree>
    <p:extLst>
      <p:ext uri="{BB962C8B-B14F-4D97-AF65-F5344CB8AC3E}">
        <p14:creationId xmlns:p14="http://schemas.microsoft.com/office/powerpoint/2010/main" val="2578188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26B289F-0A5E-4DCC-B30D-FEA97DB2E2B6}" type="datetimeFigureOut">
              <a:rPr lang="en-US" smtClean="0"/>
              <a:t>5/15/2019</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F8EDCFB-4F0D-4A62-9A64-C2CE381588B5}" type="slidenum">
              <a:rPr lang="en-US" smtClean="0"/>
              <a:t>‹#›</a:t>
            </a:fld>
            <a:endParaRPr lang="en-US"/>
          </a:p>
        </p:txBody>
      </p:sp>
    </p:spTree>
    <p:extLst>
      <p:ext uri="{BB962C8B-B14F-4D97-AF65-F5344CB8AC3E}">
        <p14:creationId xmlns:p14="http://schemas.microsoft.com/office/powerpoint/2010/main" val="383967636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ocl.us/Geospatial_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E95B7-C409-43C0-B823-F5F44A5D5672}"/>
              </a:ext>
            </a:extLst>
          </p:cNvPr>
          <p:cNvSpPr>
            <a:spLocks noGrp="1"/>
          </p:cNvSpPr>
          <p:nvPr>
            <p:ph type="ctrTitle"/>
          </p:nvPr>
        </p:nvSpPr>
        <p:spPr>
          <a:xfrm>
            <a:off x="516836" y="1122362"/>
            <a:ext cx="11198086" cy="2402715"/>
          </a:xfrm>
        </p:spPr>
        <p:txBody>
          <a:bodyPr>
            <a:normAutofit fontScale="90000"/>
          </a:bodyPr>
          <a:lstStyle/>
          <a:p>
            <a:pPr algn="ctr"/>
            <a:r>
              <a:rPr lang="en-US" sz="8000" dirty="0"/>
              <a:t>Indian Restaurant Recommendation </a:t>
            </a:r>
          </a:p>
        </p:txBody>
      </p:sp>
      <p:sp>
        <p:nvSpPr>
          <p:cNvPr id="3" name="Subtitle 2">
            <a:extLst>
              <a:ext uri="{FF2B5EF4-FFF2-40B4-BE49-F238E27FC236}">
                <a16:creationId xmlns:a16="http://schemas.microsoft.com/office/drawing/2014/main" id="{2C10C822-239A-4CA4-BBD8-6BC14E8E1518}"/>
              </a:ext>
            </a:extLst>
          </p:cNvPr>
          <p:cNvSpPr>
            <a:spLocks noGrp="1"/>
          </p:cNvSpPr>
          <p:nvPr>
            <p:ph type="subTitle" idx="1"/>
          </p:nvPr>
        </p:nvSpPr>
        <p:spPr>
          <a:xfrm>
            <a:off x="516835" y="4326806"/>
            <a:ext cx="11198087" cy="861420"/>
          </a:xfrm>
        </p:spPr>
        <p:txBody>
          <a:bodyPr>
            <a:normAutofit fontScale="40000" lnSpcReduction="20000"/>
          </a:bodyPr>
          <a:lstStyle/>
          <a:p>
            <a:pPr algn="ctr"/>
            <a:r>
              <a:rPr lang="en-US" sz="7200" dirty="0"/>
              <a:t>Data science </a:t>
            </a:r>
            <a:br>
              <a:rPr lang="en-US" sz="7200" dirty="0"/>
            </a:br>
            <a:r>
              <a:rPr lang="en-US" sz="7200" dirty="0"/>
              <a:t>IBM CAPSTONE Project</a:t>
            </a:r>
          </a:p>
        </p:txBody>
      </p:sp>
    </p:spTree>
    <p:extLst>
      <p:ext uri="{BB962C8B-B14F-4D97-AF65-F5344CB8AC3E}">
        <p14:creationId xmlns:p14="http://schemas.microsoft.com/office/powerpoint/2010/main" val="303695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FAEF28A3-012D-4640-B8B8-1EF6EAF723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4" name="Rectangle 33">
              <a:extLst>
                <a:ext uri="{FF2B5EF4-FFF2-40B4-BE49-F238E27FC236}">
                  <a16:creationId xmlns:a16="http://schemas.microsoft.com/office/drawing/2014/main" id="{F3B2F1C2-14D3-4A53-B329-323795B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Oval 34">
              <a:extLst>
                <a:ext uri="{FF2B5EF4-FFF2-40B4-BE49-F238E27FC236}">
                  <a16:creationId xmlns:a16="http://schemas.microsoft.com/office/drawing/2014/main" id="{194E879E-1515-4211-8F1B-B68A92B2C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6" name="Oval 35">
              <a:extLst>
                <a:ext uri="{FF2B5EF4-FFF2-40B4-BE49-F238E27FC236}">
                  <a16:creationId xmlns:a16="http://schemas.microsoft.com/office/drawing/2014/main" id="{F7137E7D-1F4E-498A-97D1-0E1FE6FC6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7" name="Oval 36">
              <a:extLst>
                <a:ext uri="{FF2B5EF4-FFF2-40B4-BE49-F238E27FC236}">
                  <a16:creationId xmlns:a16="http://schemas.microsoft.com/office/drawing/2014/main" id="{91375183-B6E5-43E0-B28F-39EC90838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a:extLst>
                <a:ext uri="{FF2B5EF4-FFF2-40B4-BE49-F238E27FC236}">
                  <a16:creationId xmlns:a16="http://schemas.microsoft.com/office/drawing/2014/main" id="{267F36BD-A8AF-4304-A662-1007CC17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a:extLst>
                <a:ext uri="{FF2B5EF4-FFF2-40B4-BE49-F238E27FC236}">
                  <a16:creationId xmlns:a16="http://schemas.microsoft.com/office/drawing/2014/main" id="{15D9095F-2809-4A90-A032-250AC21C3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0" name="Freeform 5">
              <a:extLst>
                <a:ext uri="{FF2B5EF4-FFF2-40B4-BE49-F238E27FC236}">
                  <a16:creationId xmlns:a16="http://schemas.microsoft.com/office/drawing/2014/main" id="{9027D7BF-C282-4477-A406-245C3F26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41" name="Freeform 5">
              <a:extLst>
                <a:ext uri="{FF2B5EF4-FFF2-40B4-BE49-F238E27FC236}">
                  <a16:creationId xmlns:a16="http://schemas.microsoft.com/office/drawing/2014/main" id="{AC3C43D8-426E-472E-A8E8-C41BF7A876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42" name="Freeform 5">
              <a:extLst>
                <a:ext uri="{FF2B5EF4-FFF2-40B4-BE49-F238E27FC236}">
                  <a16:creationId xmlns:a16="http://schemas.microsoft.com/office/drawing/2014/main" id="{52DCAE0E-B8DE-4C42-A48F-FA0C8345A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4" name="Rectangle 43">
            <a:extLst>
              <a:ext uri="{FF2B5EF4-FFF2-40B4-BE49-F238E27FC236}">
                <a16:creationId xmlns:a16="http://schemas.microsoft.com/office/drawing/2014/main" id="{59647F54-801D-44AB-8284-EDDFF7763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8126A44-4325-4397-AB47-E67055A032CD}"/>
              </a:ext>
            </a:extLst>
          </p:cNvPr>
          <p:cNvSpPr>
            <a:spLocks noGrp="1"/>
          </p:cNvSpPr>
          <p:nvPr>
            <p:ph type="title"/>
          </p:nvPr>
        </p:nvSpPr>
        <p:spPr>
          <a:xfrm>
            <a:off x="1154954" y="973668"/>
            <a:ext cx="8761413" cy="706964"/>
          </a:xfrm>
        </p:spPr>
        <p:txBody>
          <a:bodyPr vert="horz" lIns="91440" tIns="45720" rIns="91440" bIns="45720" rtlCol="0" anchor="ctr">
            <a:normAutofit/>
          </a:bodyPr>
          <a:lstStyle/>
          <a:p>
            <a:r>
              <a:rPr lang="en-US" dirty="0"/>
              <a:t>Problem Description</a:t>
            </a:r>
          </a:p>
        </p:txBody>
      </p:sp>
      <p:sp>
        <p:nvSpPr>
          <p:cNvPr id="28" name="Title 1">
            <a:extLst>
              <a:ext uri="{FF2B5EF4-FFF2-40B4-BE49-F238E27FC236}">
                <a16:creationId xmlns:a16="http://schemas.microsoft.com/office/drawing/2014/main" id="{28DF18FD-D9F0-4210-B82B-688E3C19233E}"/>
              </a:ext>
            </a:extLst>
          </p:cNvPr>
          <p:cNvSpPr txBox="1">
            <a:spLocks/>
          </p:cNvSpPr>
          <p:nvPr/>
        </p:nvSpPr>
        <p:spPr>
          <a:xfrm>
            <a:off x="1154955" y="2603500"/>
            <a:ext cx="3481054" cy="34163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384048" indent="-384048" defTabSz="457200">
              <a:spcBef>
                <a:spcPts val="1000"/>
              </a:spcBef>
              <a:buClr>
                <a:schemeClr val="accent1"/>
              </a:buClr>
              <a:buSzPct val="80000"/>
              <a:buFont typeface="Wingdings 3" charset="2"/>
              <a:buChar char=""/>
            </a:pPr>
            <a:r>
              <a:rPr lang="en-US" sz="1600">
                <a:solidFill>
                  <a:schemeClr val="tx1">
                    <a:lumMod val="75000"/>
                    <a:lumOff val="25000"/>
                  </a:schemeClr>
                </a:solidFill>
                <a:latin typeface="+mn-lt"/>
                <a:ea typeface="+mn-ea"/>
                <a:cs typeface="+mn-cs"/>
              </a:rPr>
              <a:t>Migrating from one place to another and wants the restaurant that should be of his choice and its nearby to the address where he is residing. SO the question arises:</a:t>
            </a:r>
          </a:p>
          <a:p>
            <a:pPr marL="384048" indent="-384048" defTabSz="457200">
              <a:spcBef>
                <a:spcPts val="1000"/>
              </a:spcBef>
              <a:buClr>
                <a:schemeClr val="accent1"/>
              </a:buClr>
              <a:buSzPct val="80000"/>
              <a:buFont typeface="Wingdings 3" charset="2"/>
              <a:buChar char=""/>
            </a:pPr>
            <a:r>
              <a:rPr lang="en-US" sz="1600">
                <a:solidFill>
                  <a:schemeClr val="tx1">
                    <a:lumMod val="75000"/>
                    <a:lumOff val="25000"/>
                  </a:schemeClr>
                </a:solidFill>
                <a:latin typeface="+mn-lt"/>
                <a:ea typeface="+mn-ea"/>
                <a:cs typeface="+mn-cs"/>
              </a:rPr>
              <a:t>Check all the restaurants</a:t>
            </a:r>
          </a:p>
          <a:p>
            <a:pPr marL="384048" indent="-384048" defTabSz="457200">
              <a:spcBef>
                <a:spcPts val="1000"/>
              </a:spcBef>
              <a:buClr>
                <a:schemeClr val="accent1"/>
              </a:buClr>
              <a:buSzPct val="80000"/>
              <a:buFont typeface="Wingdings 3" charset="2"/>
              <a:buChar char=""/>
            </a:pPr>
            <a:r>
              <a:rPr lang="en-US" sz="1600">
                <a:solidFill>
                  <a:schemeClr val="tx1">
                    <a:lumMod val="75000"/>
                    <a:lumOff val="25000"/>
                  </a:schemeClr>
                </a:solidFill>
                <a:latin typeface="+mn-lt"/>
                <a:ea typeface="+mn-ea"/>
                <a:cs typeface="+mn-cs"/>
              </a:rPr>
              <a:t>Filter the category of your choice</a:t>
            </a:r>
          </a:p>
          <a:p>
            <a:pPr marL="384048" indent="-384048" defTabSz="457200">
              <a:spcBef>
                <a:spcPts val="1000"/>
              </a:spcBef>
              <a:buClr>
                <a:schemeClr val="accent1"/>
              </a:buClr>
              <a:buSzPct val="80000"/>
              <a:buFont typeface="Wingdings 3" charset="2"/>
              <a:buChar char=""/>
            </a:pPr>
            <a:r>
              <a:rPr lang="en-US" sz="1600">
                <a:solidFill>
                  <a:schemeClr val="tx1">
                    <a:lumMod val="75000"/>
                    <a:lumOff val="25000"/>
                  </a:schemeClr>
                </a:solidFill>
                <a:latin typeface="+mn-lt"/>
                <a:ea typeface="+mn-ea"/>
                <a:cs typeface="+mn-cs"/>
              </a:rPr>
              <a:t>Check the rating and near by location</a:t>
            </a:r>
          </a:p>
          <a:p>
            <a:pPr marL="384048" indent="-384048" defTabSz="457200">
              <a:spcBef>
                <a:spcPts val="1000"/>
              </a:spcBef>
              <a:buClr>
                <a:schemeClr val="accent1"/>
              </a:buClr>
              <a:buSzPct val="80000"/>
              <a:buFont typeface="Wingdings 3" charset="2"/>
              <a:buChar char=""/>
            </a:pPr>
            <a:endParaRPr lang="en-US" sz="1600">
              <a:solidFill>
                <a:schemeClr val="tx1">
                  <a:lumMod val="75000"/>
                  <a:lumOff val="25000"/>
                </a:schemeClr>
              </a:solidFill>
              <a:latin typeface="+mn-lt"/>
              <a:ea typeface="+mn-ea"/>
              <a:cs typeface="+mn-cs"/>
            </a:endParaRPr>
          </a:p>
        </p:txBody>
      </p:sp>
      <p:pic>
        <p:nvPicPr>
          <p:cNvPr id="4" name="Picture 3" descr="A close up of a logo&#10;&#10;Description generated with high confidence">
            <a:extLst>
              <a:ext uri="{FF2B5EF4-FFF2-40B4-BE49-F238E27FC236}">
                <a16:creationId xmlns:a16="http://schemas.microsoft.com/office/drawing/2014/main" id="{EE0CFA71-4A12-4973-875E-74AACA821A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6709" y="3049398"/>
            <a:ext cx="2705100" cy="2857500"/>
          </a:xfrm>
          <a:prstGeom prst="rect">
            <a:avLst/>
          </a:prstGeom>
        </p:spPr>
      </p:pic>
    </p:spTree>
    <p:extLst>
      <p:ext uri="{BB962C8B-B14F-4D97-AF65-F5344CB8AC3E}">
        <p14:creationId xmlns:p14="http://schemas.microsoft.com/office/powerpoint/2010/main" val="1683112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a:t>Target Audience</a:t>
            </a:r>
          </a:p>
        </p:txBody>
      </p:sp>
      <p:sp>
        <p:nvSpPr>
          <p:cNvPr id="3" name="Content Placeholder 2">
            <a:extLst>
              <a:ext uri="{FF2B5EF4-FFF2-40B4-BE49-F238E27FC236}">
                <a16:creationId xmlns:a16="http://schemas.microsoft.com/office/drawing/2014/main" id="{6A9477A7-47C7-41E6-81B8-9221E3A39BE7}"/>
              </a:ext>
            </a:extLst>
          </p:cNvPr>
          <p:cNvSpPr>
            <a:spLocks noGrp="1"/>
          </p:cNvSpPr>
          <p:nvPr>
            <p:ph idx="1"/>
          </p:nvPr>
        </p:nvSpPr>
        <p:spPr>
          <a:xfrm>
            <a:off x="1154955" y="2603500"/>
            <a:ext cx="3481054" cy="3416300"/>
          </a:xfrm>
        </p:spPr>
        <p:txBody>
          <a:bodyPr anchor="ctr">
            <a:normAutofit/>
          </a:bodyPr>
          <a:lstStyle/>
          <a:p>
            <a:pPr marL="0" indent="0">
              <a:buNone/>
            </a:pPr>
            <a:r>
              <a:rPr lang="en-US" sz="1600"/>
              <a:t>I believe this is for every person who is shifting from one place to another. As the need for a job everyone must travel and wants to be in a place where he got all the amenities. After a long hour of job, he needs that the daily needs should be nearer as much it can be. So, predicting the Battle of neighborhood is correct for description for this project. </a:t>
            </a:r>
          </a:p>
        </p:txBody>
      </p:sp>
      <p:pic>
        <p:nvPicPr>
          <p:cNvPr id="5" name="Picture 4">
            <a:extLst>
              <a:ext uri="{FF2B5EF4-FFF2-40B4-BE49-F238E27FC236}">
                <a16:creationId xmlns:a16="http://schemas.microsoft.com/office/drawing/2014/main" id="{4E56B430-587D-4605-A84A-38534835373A}"/>
              </a:ext>
            </a:extLst>
          </p:cNvPr>
          <p:cNvPicPr>
            <a:picLocks noChangeAspect="1"/>
          </p:cNvPicPr>
          <p:nvPr/>
        </p:nvPicPr>
        <p:blipFill rotWithShape="1">
          <a:blip r:embed="rId2">
            <a:extLst>
              <a:ext uri="{28A0092B-C50C-407E-A947-70E740481C1C}">
                <a14:useLocalDpi xmlns:a14="http://schemas.microsoft.com/office/drawing/2010/main" val="0"/>
              </a:ext>
            </a:extLst>
          </a:blip>
          <a:srcRect t="1408" r="-2" b="8225"/>
          <a:stretch/>
        </p:blipFill>
        <p:spPr>
          <a:xfrm>
            <a:off x="4984956" y="2775951"/>
            <a:ext cx="6158802"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286136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EE70-81DF-4A47-B09C-3F0EBE996133}"/>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BEC83E79-BF8B-4BBC-BCA7-9DAAEE4BA75E}"/>
              </a:ext>
            </a:extLst>
          </p:cNvPr>
          <p:cNvSpPr>
            <a:spLocks noGrp="1"/>
          </p:cNvSpPr>
          <p:nvPr>
            <p:ph idx="1"/>
          </p:nvPr>
        </p:nvSpPr>
        <p:spPr/>
        <p:txBody>
          <a:bodyPr/>
          <a:lstStyle/>
          <a:p>
            <a:r>
              <a:rPr lang="en-US" dirty="0"/>
              <a:t>1) Using Canada Dataset: https://en.wikipedia.org/wiki/List_of_postal_codes_of_Canada:_M and get latitude, longitude from </a:t>
            </a:r>
            <a:r>
              <a:rPr lang="en-US" dirty="0">
                <a:hlinkClick r:id="rId2"/>
              </a:rPr>
              <a:t>https://cocl.us/</a:t>
            </a:r>
            <a:r>
              <a:rPr lang="en-US" dirty="0" err="1">
                <a:hlinkClick r:id="rId2"/>
              </a:rPr>
              <a:t>Geospatial_data</a:t>
            </a:r>
            <a:r>
              <a:rPr lang="en-US" dirty="0"/>
              <a:t>’</a:t>
            </a:r>
          </a:p>
          <a:p>
            <a:r>
              <a:rPr lang="en-US" dirty="0"/>
              <a:t>Finding based on address the near by restaurants using Foursquare API. By using this API we will get all the venues in each neighborhood. We can filter these venues to get restaurants based on input we have provided. </a:t>
            </a:r>
          </a:p>
        </p:txBody>
      </p:sp>
    </p:spTree>
    <p:extLst>
      <p:ext uri="{BB962C8B-B14F-4D97-AF65-F5344CB8AC3E}">
        <p14:creationId xmlns:p14="http://schemas.microsoft.com/office/powerpoint/2010/main" val="1559582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dirty="0"/>
              <a:t>Analysis from the dataset</a:t>
            </a:r>
          </a:p>
        </p:txBody>
      </p:sp>
      <p:pic>
        <p:nvPicPr>
          <p:cNvPr id="8" name="Picture 7" descr="A screenshot of a cell phone&#10;&#10;Description generated with very high confidence">
            <a:extLst>
              <a:ext uri="{FF2B5EF4-FFF2-40B4-BE49-F238E27FC236}">
                <a16:creationId xmlns:a16="http://schemas.microsoft.com/office/drawing/2014/main" id="{7DB99831-0AE7-46D4-B642-3F40F81A0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365" y="2665064"/>
            <a:ext cx="5856277" cy="3341281"/>
          </a:xfrm>
          <a:prstGeom prst="rect">
            <a:avLst/>
          </a:prstGeom>
        </p:spPr>
      </p:pic>
      <p:pic>
        <p:nvPicPr>
          <p:cNvPr id="10" name="Picture 9" descr="A close up of a map&#10;&#10;Description generated with very high confidence">
            <a:extLst>
              <a:ext uri="{FF2B5EF4-FFF2-40B4-BE49-F238E27FC236}">
                <a16:creationId xmlns:a16="http://schemas.microsoft.com/office/drawing/2014/main" id="{D93BD9A6-93D9-4E74-9B0A-16A774DB2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7732" y="2667919"/>
            <a:ext cx="5934903" cy="3353268"/>
          </a:xfrm>
          <a:prstGeom prst="rect">
            <a:avLst/>
          </a:prstGeom>
        </p:spPr>
      </p:pic>
    </p:spTree>
    <p:extLst>
      <p:ext uri="{BB962C8B-B14F-4D97-AF65-F5344CB8AC3E}">
        <p14:creationId xmlns:p14="http://schemas.microsoft.com/office/powerpoint/2010/main" val="2949439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dirty="0"/>
              <a:t>Using Four Square API</a:t>
            </a:r>
          </a:p>
        </p:txBody>
      </p:sp>
      <p:sp>
        <p:nvSpPr>
          <p:cNvPr id="5" name="Content Placeholder 2">
            <a:extLst>
              <a:ext uri="{FF2B5EF4-FFF2-40B4-BE49-F238E27FC236}">
                <a16:creationId xmlns:a16="http://schemas.microsoft.com/office/drawing/2014/main" id="{4CA2666F-FC0F-40B5-8D9A-12F3A0F5AF60}"/>
              </a:ext>
            </a:extLst>
          </p:cNvPr>
          <p:cNvSpPr>
            <a:spLocks noGrp="1"/>
          </p:cNvSpPr>
          <p:nvPr>
            <p:ph idx="1"/>
          </p:nvPr>
        </p:nvSpPr>
        <p:spPr>
          <a:xfrm>
            <a:off x="1154954" y="2603500"/>
            <a:ext cx="8825659" cy="3416300"/>
          </a:xfrm>
        </p:spPr>
        <p:txBody>
          <a:bodyPr/>
          <a:lstStyle/>
          <a:p>
            <a:r>
              <a:rPr lang="en-US" dirty="0"/>
              <a:t>Using Foursquare API, we input the address where we are residing or from where to we search the restaurant. </a:t>
            </a:r>
          </a:p>
          <a:p>
            <a:r>
              <a:rPr lang="en-US" dirty="0"/>
              <a:t>Using API, we get the latitude and longitude of the given location</a:t>
            </a:r>
          </a:p>
          <a:p>
            <a:r>
              <a:rPr lang="en-US" dirty="0"/>
              <a:t>Now, input the type of restaurant you want to search.</a:t>
            </a:r>
          </a:p>
          <a:p>
            <a:r>
              <a:rPr lang="en-US" dirty="0"/>
              <a:t>You will get all the restaurants in radius of 500.</a:t>
            </a:r>
          </a:p>
          <a:p>
            <a:r>
              <a:rPr lang="en-US" dirty="0"/>
              <a:t>We get the rating of those restaurants and sort them.</a:t>
            </a:r>
          </a:p>
          <a:p>
            <a:r>
              <a:rPr lang="en-US" dirty="0"/>
              <a:t>Recommend the restaurant which is having the highest rating.</a:t>
            </a:r>
          </a:p>
        </p:txBody>
      </p:sp>
    </p:spTree>
    <p:extLst>
      <p:ext uri="{BB962C8B-B14F-4D97-AF65-F5344CB8AC3E}">
        <p14:creationId xmlns:p14="http://schemas.microsoft.com/office/powerpoint/2010/main" val="210382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a:t>Using Four Square API</a:t>
            </a:r>
            <a:endParaRPr lang="en-US" dirty="0"/>
          </a:p>
        </p:txBody>
      </p:sp>
      <p:pic>
        <p:nvPicPr>
          <p:cNvPr id="6" name="Picture 5">
            <a:extLst>
              <a:ext uri="{FF2B5EF4-FFF2-40B4-BE49-F238E27FC236}">
                <a16:creationId xmlns:a16="http://schemas.microsoft.com/office/drawing/2014/main" id="{A9366345-5BA8-47A1-B085-26294DEF93CB}"/>
              </a:ext>
            </a:extLst>
          </p:cNvPr>
          <p:cNvPicPr>
            <a:picLocks noChangeAspect="1"/>
          </p:cNvPicPr>
          <p:nvPr/>
        </p:nvPicPr>
        <p:blipFill>
          <a:blip r:embed="rId2"/>
          <a:stretch>
            <a:fillRect/>
          </a:stretch>
        </p:blipFill>
        <p:spPr>
          <a:xfrm>
            <a:off x="2199446" y="2675830"/>
            <a:ext cx="7196346" cy="3208502"/>
          </a:xfrm>
          <a:prstGeom prst="rect">
            <a:avLst/>
          </a:prstGeom>
        </p:spPr>
      </p:pic>
      <p:sp>
        <p:nvSpPr>
          <p:cNvPr id="8" name="TextBox 7">
            <a:extLst>
              <a:ext uri="{FF2B5EF4-FFF2-40B4-BE49-F238E27FC236}">
                <a16:creationId xmlns:a16="http://schemas.microsoft.com/office/drawing/2014/main" id="{3F0F9B1D-92BA-4CEC-B163-83E72980115E}"/>
              </a:ext>
            </a:extLst>
          </p:cNvPr>
          <p:cNvSpPr txBox="1"/>
          <p:nvPr/>
        </p:nvSpPr>
        <p:spPr>
          <a:xfrm>
            <a:off x="2464904" y="6122504"/>
            <a:ext cx="7924801" cy="369332"/>
          </a:xfrm>
          <a:prstGeom prst="rect">
            <a:avLst/>
          </a:prstGeom>
          <a:noFill/>
        </p:spPr>
        <p:txBody>
          <a:bodyPr wrap="square" rtlCol="0">
            <a:spAutoFit/>
          </a:bodyPr>
          <a:lstStyle/>
          <a:p>
            <a:r>
              <a:rPr lang="en-US" dirty="0"/>
              <a:t>These are the filtered restaurants on the basis of search criteria</a:t>
            </a:r>
          </a:p>
        </p:txBody>
      </p:sp>
    </p:spTree>
    <p:extLst>
      <p:ext uri="{BB962C8B-B14F-4D97-AF65-F5344CB8AC3E}">
        <p14:creationId xmlns:p14="http://schemas.microsoft.com/office/powerpoint/2010/main" val="247931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a:t>Using Four Square API</a:t>
            </a:r>
            <a:endParaRPr lang="en-US" dirty="0"/>
          </a:p>
        </p:txBody>
      </p:sp>
      <p:pic>
        <p:nvPicPr>
          <p:cNvPr id="3" name="Picture 2">
            <a:extLst>
              <a:ext uri="{FF2B5EF4-FFF2-40B4-BE49-F238E27FC236}">
                <a16:creationId xmlns:a16="http://schemas.microsoft.com/office/drawing/2014/main" id="{869E00AC-96FB-4682-8F74-3610E1928B2A}"/>
              </a:ext>
            </a:extLst>
          </p:cNvPr>
          <p:cNvPicPr>
            <a:picLocks noChangeAspect="1"/>
          </p:cNvPicPr>
          <p:nvPr/>
        </p:nvPicPr>
        <p:blipFill>
          <a:blip r:embed="rId2"/>
          <a:stretch>
            <a:fillRect/>
          </a:stretch>
        </p:blipFill>
        <p:spPr>
          <a:xfrm>
            <a:off x="1485839" y="2742444"/>
            <a:ext cx="9370000" cy="3545813"/>
          </a:xfrm>
          <a:prstGeom prst="rect">
            <a:avLst/>
          </a:prstGeom>
        </p:spPr>
      </p:pic>
      <p:sp>
        <p:nvSpPr>
          <p:cNvPr id="5" name="TextBox 4">
            <a:extLst>
              <a:ext uri="{FF2B5EF4-FFF2-40B4-BE49-F238E27FC236}">
                <a16:creationId xmlns:a16="http://schemas.microsoft.com/office/drawing/2014/main" id="{EBE085F4-7D76-48FD-8A61-68CE6C2AC3C7}"/>
              </a:ext>
            </a:extLst>
          </p:cNvPr>
          <p:cNvSpPr txBox="1"/>
          <p:nvPr/>
        </p:nvSpPr>
        <p:spPr>
          <a:xfrm>
            <a:off x="530087" y="6288257"/>
            <a:ext cx="11131826" cy="369332"/>
          </a:xfrm>
          <a:prstGeom prst="rect">
            <a:avLst/>
          </a:prstGeom>
          <a:noFill/>
        </p:spPr>
        <p:txBody>
          <a:bodyPr wrap="square" rtlCol="0">
            <a:spAutoFit/>
          </a:bodyPr>
          <a:lstStyle/>
          <a:p>
            <a:r>
              <a:rPr lang="en-US" dirty="0"/>
              <a:t>Restaurants are sorted on the basis of rating. Like the highest is having the Indian Biryani House. </a:t>
            </a:r>
          </a:p>
        </p:txBody>
      </p:sp>
    </p:spTree>
    <p:extLst>
      <p:ext uri="{BB962C8B-B14F-4D97-AF65-F5344CB8AC3E}">
        <p14:creationId xmlns:p14="http://schemas.microsoft.com/office/powerpoint/2010/main" val="3286281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dirty="0"/>
              <a:t>Visualization through Map</a:t>
            </a:r>
          </a:p>
        </p:txBody>
      </p:sp>
      <p:pic>
        <p:nvPicPr>
          <p:cNvPr id="4" name="Picture 3">
            <a:extLst>
              <a:ext uri="{FF2B5EF4-FFF2-40B4-BE49-F238E27FC236}">
                <a16:creationId xmlns:a16="http://schemas.microsoft.com/office/drawing/2014/main" id="{BDCDE164-5F87-48A3-B94D-37951389F1B5}"/>
              </a:ext>
            </a:extLst>
          </p:cNvPr>
          <p:cNvPicPr>
            <a:picLocks noChangeAspect="1"/>
          </p:cNvPicPr>
          <p:nvPr/>
        </p:nvPicPr>
        <p:blipFill>
          <a:blip r:embed="rId2"/>
          <a:stretch>
            <a:fillRect/>
          </a:stretch>
        </p:blipFill>
        <p:spPr>
          <a:xfrm>
            <a:off x="1154954" y="2468880"/>
            <a:ext cx="9499794" cy="4196963"/>
          </a:xfrm>
          <a:prstGeom prst="rect">
            <a:avLst/>
          </a:prstGeom>
        </p:spPr>
      </p:pic>
    </p:spTree>
    <p:extLst>
      <p:ext uri="{BB962C8B-B14F-4D97-AF65-F5344CB8AC3E}">
        <p14:creationId xmlns:p14="http://schemas.microsoft.com/office/powerpoint/2010/main" val="726076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AF32-A43E-4598-A034-41E9E40A6C52}"/>
              </a:ext>
            </a:extLst>
          </p:cNvPr>
          <p:cNvSpPr>
            <a:spLocks noGrp="1"/>
          </p:cNvSpPr>
          <p:nvPr>
            <p:ph type="title"/>
          </p:nvPr>
        </p:nvSpPr>
        <p:spPr>
          <a:xfrm>
            <a:off x="1154954" y="973668"/>
            <a:ext cx="8761413" cy="706964"/>
          </a:xfrm>
        </p:spPr>
        <p:txBody>
          <a:bodyPr>
            <a:normAutofit/>
          </a:bodyPr>
          <a:lstStyle/>
          <a:p>
            <a:r>
              <a:rPr lang="en-US" dirty="0"/>
              <a:t>Conclusion</a:t>
            </a:r>
          </a:p>
        </p:txBody>
      </p:sp>
      <p:sp>
        <p:nvSpPr>
          <p:cNvPr id="5" name="TextBox 4">
            <a:extLst>
              <a:ext uri="{FF2B5EF4-FFF2-40B4-BE49-F238E27FC236}">
                <a16:creationId xmlns:a16="http://schemas.microsoft.com/office/drawing/2014/main" id="{D04BACA3-EA4F-48BC-A121-3E0C5A022348}"/>
              </a:ext>
            </a:extLst>
          </p:cNvPr>
          <p:cNvSpPr txBox="1"/>
          <p:nvPr/>
        </p:nvSpPr>
        <p:spPr>
          <a:xfrm>
            <a:off x="1260972" y="3926109"/>
            <a:ext cx="10453949" cy="923330"/>
          </a:xfrm>
          <a:prstGeom prst="rect">
            <a:avLst/>
          </a:prstGeom>
          <a:noFill/>
        </p:spPr>
        <p:txBody>
          <a:bodyPr wrap="square" rtlCol="0">
            <a:spAutoFit/>
          </a:bodyPr>
          <a:lstStyle/>
          <a:p>
            <a:r>
              <a:rPr lang="en-US" dirty="0"/>
              <a:t>The Green Dot on the map shows the Restaurant having the highest rating and also recommended. And the blue dots are the other restaurants that are having less rating from the recommended one. </a:t>
            </a:r>
          </a:p>
        </p:txBody>
      </p:sp>
    </p:spTree>
    <p:extLst>
      <p:ext uri="{BB962C8B-B14F-4D97-AF65-F5344CB8AC3E}">
        <p14:creationId xmlns:p14="http://schemas.microsoft.com/office/powerpoint/2010/main" val="1854411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otalTime>72</TotalTime>
  <Words>384</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 Boardroom</vt:lpstr>
      <vt:lpstr>Indian Restaurant Recommendation </vt:lpstr>
      <vt:lpstr>Problem Description</vt:lpstr>
      <vt:lpstr>Target Audience</vt:lpstr>
      <vt:lpstr>Dataset</vt:lpstr>
      <vt:lpstr>Analysis from the dataset</vt:lpstr>
      <vt:lpstr>Using Four Square API</vt:lpstr>
      <vt:lpstr>Using Four Square API</vt:lpstr>
      <vt:lpstr>Using Four Square API</vt:lpstr>
      <vt:lpstr>Visualization through Map</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Restaurant Recommendation </dc:title>
  <dc:creator>Malika Singla</dc:creator>
  <cp:lastModifiedBy>Malika Singla</cp:lastModifiedBy>
  <cp:revision>11</cp:revision>
  <dcterms:created xsi:type="dcterms:W3CDTF">2019-05-09T09:13:25Z</dcterms:created>
  <dcterms:modified xsi:type="dcterms:W3CDTF">2019-05-15T04:59:06Z</dcterms:modified>
</cp:coreProperties>
</file>